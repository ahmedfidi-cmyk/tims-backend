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بائعون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3F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C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طبقات الإطلاق</c:v>
                  </c:pt>
                  <c:pt idx="1">
                    <c:v>الإطلاق بتكاليف مستهدفة</c:v>
                  </c:pt>
                  <c:pt idx="2">
                    <c:v>مع الطبقة المؤسسية</c:v>
                  </c:pt>
                  <c:pt idx="3">
                    <c:v>المؤسسية بتكاليف مستهدفة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1130</c:v>
                </c:pt>
                <c:pt idx="1">
                  <c:v>960</c:v>
                </c:pt>
                <c:pt idx="2">
                  <c:v>840</c:v>
                </c:pt>
                <c:pt idx="3">
                  <c:v>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2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0"/>
        </c:scaling>
        <c:delete val="0"/>
        <c:axPos val="l"/>
        <c:majorGridlines>
          <c:spPr>
            <a:ln w="12700" cap="flat">
              <a:solidFill>
                <a:srgbClr val="EDF1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2735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4206240"/>
            <a:ext cx="2743200" cy="2743200"/>
          </a:xfrm>
          <a:prstGeom prst="ellipse">
            <a:avLst/>
          </a:prstGeom>
          <a:solidFill>
            <a:srgbClr val="2735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MARKET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ملخّص الحزمة الاستشارية والخطوات القادمة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310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عالمي ٢٤/٧ مبني حصراً على البثّ المباشر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المعتمد: ٢٧ سبتمبر ٢٠٢٦   |   الإصدار: ٢٨ سبتمبر ٢٠٢٦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كبير مستشاري المنتج ومهندس الحلول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لمحة سريعة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نحن الآن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988552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25712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125712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مُسلَّمة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٤٠٦٥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سطراً من التحليل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4408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1568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دمج مكتملة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1F2"/>
          </a:solidFill>
          <a:ln w="9525">
            <a:solidFill>
              <a:srgbClr val="F7C3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قراراً مفتوحاً بانتظارك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703320"/>
            <a:ext cx="11027664" cy="1828800"/>
          </a:xfrm>
          <a:prstGeom prst="roundRect">
            <a:avLst>
              <a:gd name="adj" fmla="val 450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391363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بعبارة واحدة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315968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الحزمة مكتملة ومدموجة بالكامل. لم يعد المشروع ينقصه تحليل — ينقصه قرارات، وثلاثة أعمال خارجية طويلة الزمن تبدأ قبل الهندسة.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956048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وثيقة ناقصة. الوثيقة الثانية عشرة لن تقرّب أي قرار من الحسم.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أُنجز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الحزمة — ستة مسارات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982712" y="17373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91088" y="19568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91088" y="1997964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02168" y="1993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02168" y="24505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قرار الـ MVP: تسجيل مرجّح، فصل P0/P1، محرّكات المراحل، بوابات الإطلاق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96512" y="17373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9568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04888" y="1997964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993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24505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مقابل LL-HLS بتحليل نقطة التعادل · ADR-0013 لعزل البنية التحتية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0312" y="17373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9568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18688" y="1997964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" y="1993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الاقتصاد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" y="24505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الباقات والتسعير المشتقّ من التكلفة · النموذج المالي الموحّد كمصدر وحيد للأرقام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82712" y="3776472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91088" y="3995928"/>
            <a:ext cx="384048" cy="38404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91088" y="4037076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02168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4489704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رحلة البائع بآلة حالة وثوابت · مواصفة Discovery وواجهة المشاهد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096512" y="3776472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4888" y="3995928"/>
            <a:ext cx="384048" cy="38404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04888" y="4037076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315968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التشغيل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4315968" y="4489704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تشغيل الإشراف ٢٤/٧ · هيكل Policy Engine الجاهز لتعبئة المحامي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10312" y="3776472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3995928"/>
            <a:ext cx="384048" cy="38404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18688" y="4037076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29768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429768" y="4489704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الاحتفاظ وإعادة الشراء · ميكانيكا Boost وتعريف Qualified View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قرار الـ MVP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١ — النطاق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627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المنهج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029968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خمسة محاور مرجّحة: سلامة المبدأ، بوابة الإطلاق، السيولة، الإيراد، كلفة البناء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حدود قطع منشورة، وكل تجاوز للحدّ مُعلَّم ومُبرَّر لا مخفيّاً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فصل P0 (حاجب للإطلاق) عن P1 (مكتمل) ليبقى النطاق قابلاً للتقليص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627632"/>
            <a:ext cx="6126480" cy="4206240"/>
          </a:xfrm>
          <a:prstGeom prst="roundRect">
            <a:avLst>
              <a:gd name="adj" fmla="val 1957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8470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قرار في الوثيقة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286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MVP يُسيّل البثّ، لا المعاملات.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78892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يُشحَن وضعا «العرض فقط» و«توليد العملاء» أولاً، وتُؤجَّل الفوترة والتحصيل. هذا يُخرج ترخيص المدفوعات ودور المنصة القانوني من المسار الحرج للإطلاق — وهو متّسق مع المبدأ ٢ الذي يجعل البثّ المدفوع مصدر الإيراد الأساسي أصلاً، لا العمولة.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160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المبدأ ٨ سليم: لا وضع تجاري يصبح إلزامياً، والمشتري لا يدفع قبل الفاتورة — لأن المنصة لا تستقبل دفعة إطلاقاً في الـ MVP.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51389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٢٥ بنداً P0   ·   ٦ بنود P1   ·   ١٢ بنداً للمرحلة الثانية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مقابل LL-HLS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٢ — البنية التقنية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حُسم بالحساب لا بالتفضيل: نقطة التعادل تقع بين ٢ و١٢٠ مشاهداً متزامناً — أي دون هدف السيولة نفسه.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2212848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27664" y="239572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66176" y="239572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66176" y="2834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استقبال WHIP/WebRTC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توزيع LL-HLS لكل المشاهدين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بلا طبقة WebRTC للمشاهدين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87952" y="2212848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68896" y="2395728"/>
            <a:ext cx="274320" cy="274320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7408" y="239572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 الحامل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2834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التفاعل في الـ MVP دردشة نصية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وهي دون الثانية أصلاً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فالفيديو السريع لا يشتري شيئاً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" y="2212848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2395728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39572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34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مسار بروتوكول واحد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مشغّل واحد، بلا TURN للمشاهدين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فئة كاملة من الأعطال تختفي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18304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1F2"/>
          </a:solidFill>
          <a:ln w="9525">
            <a:solidFill>
              <a:srgbClr val="F7C3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937760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صافٍ على النطاق: تقليص. والهدف ٢–٤ ثوان زجاج‑إلى‑زجاج، بميزانية تأخير مفصّلة مرحلةً بمرحلة.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التسعير والنموذج المالي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٣ — الاقتصاد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مشتقّة من التكلفة لا مختارة، والأرقام لها مصدر واحد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68112" y="2084832"/>
            <a:ext cx="612648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DDE4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82912" y="218541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الطبقة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19872" y="21854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18541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68112" y="21854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الهامش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68112" y="2560320"/>
            <a:ext cx="6126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266090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Pass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266090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39712" y="26609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68112" y="266090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٦٦٪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68112" y="3035808"/>
            <a:ext cx="6126480" cy="475488"/>
          </a:xfrm>
          <a:prstGeom prst="rect">
            <a:avLst/>
          </a:prstGeom>
          <a:solidFill>
            <a:srgbClr val="F4F7FD"/>
          </a:solidFill>
          <a:ln w="6350">
            <a:solidFill>
              <a:srgbClr val="DDE4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82912" y="31363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119872" y="313639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$11.00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313639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31363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٦٢٪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68112" y="3511296"/>
            <a:ext cx="6126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36118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119872" y="361188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$38.00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36118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68112" y="36118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٦٢٪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68112" y="3986784"/>
            <a:ext cx="6126480" cy="475488"/>
          </a:xfrm>
          <a:prstGeom prst="rect">
            <a:avLst/>
          </a:prstGeom>
          <a:solidFill>
            <a:srgbClr val="F4F7FD"/>
          </a:solidFill>
          <a:ln w="6350">
            <a:solidFill>
              <a:srgbClr val="DDE4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82912" y="40873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(م٢)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119872" y="408736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$154.50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408736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$399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68112" y="408736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٦١٪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2084832"/>
            <a:ext cx="4617720" cy="2615184"/>
          </a:xfrm>
          <a:prstGeom prst="roundRect">
            <a:avLst>
              <a:gd name="adj" fmla="val 3147"/>
            </a:avLst>
          </a:prstGeom>
          <a:solidFill>
            <a:srgbClr val="FFF1F2"/>
          </a:solidFill>
          <a:ln w="9525">
            <a:solidFill>
              <a:srgbClr val="F7C3C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تصحيح مادي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2651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حوسبة الإشراف كانت غائبة عن نموذج التكلفة.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340156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إضافتها أنزلت الطبقات الثلاث تحت حدّ السعر الأدنى، وحرّكت نقطة التعادل المختلطة من ~٥٤٠ بائعاً إلى ~٨٤٠. التوصية: تثبيت الأسعار وقبول هامش ~٦٢٪، لأن رافعتَي استعادته محدَّدتان أصلاً.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4864608"/>
            <a:ext cx="11027664" cy="960120"/>
          </a:xfrm>
          <a:prstGeom prst="roundRect">
            <a:avLst>
              <a:gd name="adj" fmla="val 8571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1248" y="5074920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التعادل: ~١٬١٣٠ بائعاً بطبقات الـ MVP وحدها، مقابل ~٨٤٠ مع طبقة Business — لذلك المرحلة الثانية متطلَّب في قائمة الأرباح، لا طلب عميل.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الجانبان: بائع ومشاهد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٤ — المنتج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99632" y="1691640"/>
            <a:ext cx="5394960" cy="2487168"/>
          </a:xfrm>
          <a:prstGeom prst="roundRect">
            <a:avLst>
              <a:gd name="adj" fmla="val 3309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0195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مواصفة Discovery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377440"/>
            <a:ext cx="48828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شبكة لا فيد: لا تمرير لانهائي ولا سحب للتالي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إطارات ثابتة بدل المعاينات المباشرة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الحالة الفارغة سطح من الدرجة الأولى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مشكلة ثقة المشتري مذكورة صريحة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5394960" cy="2487168"/>
          </a:xfrm>
          <a:prstGeom prst="roundRect">
            <a:avLst>
              <a:gd name="adj" fmla="val 3309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0195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رحلة البائع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77440"/>
            <a:ext cx="48828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عشر مراحل من أول زيارة حتى التجديد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آلة حالة للجلسة بستة ثوابت قابلة للاختبار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خمس نهايات جلسة متمايزة: «غادرتَ» ≠ «نفدت باقتك»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ملف البائع مُعرَّف بما يجب ألّا يحتويه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43984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681728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٢٢ معيار قبول سلبي مكتوبة لـ CI — لأن المبدأ الذي يُحرَس بالنيّة وحدها يتآكل بصمت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الإشراف ومحرّك السياسات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٥ — التشغيل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46520" y="164592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18653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تشغيل الإشراف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340864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تصنيف مخاطر بـ١١ فئة وأزمنة استجابة مشتقّة من الخطورة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أربع طبقات من المنع إلى المراجعة اللاحقة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عيّنة تكيّفية: آلةٌ تُنهي البثّ في فئتين فقط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نوبة ٢٤/٧ بحجم ~١٥ موظفاً بدوام كامل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تدابير رعاية نفسية إلزامية قبل أول وردية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02552" y="4800600"/>
            <a:ext cx="4663440" cy="868680"/>
          </a:xfrm>
          <a:prstGeom prst="roundRect">
            <a:avLst>
              <a:gd name="adj" fmla="val 9474"/>
            </a:avLst>
          </a:prstGeom>
          <a:solidFill>
            <a:srgbClr val="FFF1F2"/>
          </a:solidFill>
          <a:ln w="9525">
            <a:solidFill>
              <a:srgbClr val="F7C3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85432" y="4983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الإشراف — لا الإعلام — هو جدار التكلفة الثابتة، ويُستحق قبل أن يسجّل أول بائع.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4592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18653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 Policy Engine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340864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الهيكل من إعدادي، والمحتوى القانوني للمحامي — بلا أي حكم قانوني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مفردات حكم لا تحتوي «مرفوض» لأن المبدأ ١١ لا يسمح بها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تصنيف ثلاثين فئة مرتبط بشدّة الإشراف</a:t>
            </a:r>
            <a:endParaRPr lang="en-US" sz="12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قواعد غير قابلة للتعديل ومُصدَّرة، والتقييم يسجّل نسخته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5029200" cy="960120"/>
          </a:xfrm>
          <a:prstGeom prst="roundRect">
            <a:avLst>
              <a:gd name="adj" fmla="val 8571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892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قرار: الخانة غير المراجَعة. التوصية افتراضٌ بحسب طبقة الخطر — منعٌ للساخنة، وسماحٌ للأساسية.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الاحتفاظ وميكانيكا Boost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٦ — النمو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11027664" cy="1481328"/>
          </a:xfrm>
          <a:prstGeom prst="roundRect">
            <a:avLst>
              <a:gd name="adj" fmla="val 5556"/>
            </a:avLst>
          </a:prstGeom>
          <a:solidFill>
            <a:srgbClr val="FFF1F2"/>
          </a:solidFill>
          <a:ln w="9525">
            <a:solidFill>
              <a:srgbClr val="F7C3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18470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الاحتفاظ لا الاستقطاب هو القيد الحاكم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30428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هدف ٤٠٪ الذي وضعتُه سابقاً، تثبيتُ التعادل يحتاج ~٥٠٠ بائع دافع جديد كل شهر للأبد. لا سوق يبدأ من الصفر يفعل ذلك. الهدف المطلوب ≥ ٠٫٨٥ شهرياً — وقد سحبتُ رقم ٤٠٪.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9632" y="329184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49300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الاحتفاظ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3968496"/>
            <a:ext cx="4882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خمسة أنماط فشل: من لم يحصل على جمهور يجب أن يرحل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أهم مقياس: إعادة الشراء مقسومة على التنشيط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دليل الاحتفاظ التقليدي محظور هنا بالمبادئ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493008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ميكانيكا Boost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68496"/>
            <a:ext cx="4882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provenance الانطباعات يمنع شراء الوصول العضوي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سعر عالمي ثابت لكل Qualified View، لا مزاد</a:t>
            </a:r>
            <a:endParaRPr lang="en-US" sz="12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السقوف تحدّ إيراد Boost عن قصد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نتائج زيّنته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ستّ نتائج غيّرت القرار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53912" y="169164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0" y="191566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91656" y="19293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MVP يُسيّل البثّ لا المعاملات — ترخيص المدفوعات خارج المسار الحرج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169164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85816" y="1874520"/>
            <a:ext cx="384048" cy="38404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85816" y="191566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19293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تعادل LL-HLS أدنى بكثير من المفترض — لا طبقة WebRTC للمشاهدين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53912" y="3118104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0" y="334213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33558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حوسبة الإشراف كانت غائبة عن نموذج التكلفة — كل الطبقات تحت الحدّ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118104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5816" y="3300984"/>
            <a:ext cx="384048" cy="38404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85816" y="334213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3558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الاحتفاظ لا الاستقطاب هو القيد — سحبتُ هدفاً كنتُ قد وضعتُه بنفسي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53912" y="4544568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47274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72800" y="4768596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1656" y="47823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معاينات الشبكة المباشرة كانت ستخلق فاتورة توصيل ثانية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544568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85816" y="4727448"/>
            <a:ext cx="384048" cy="38404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85816" y="4768596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47823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الانطباعات هو ما يمنع المدفوع من شراء العضوي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الاقتصاد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التعادل بالأرقام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البائعين الدافعين اللازم لتغطية التكلفة الثابتة الشهرية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66928" y="2011680"/>
          <a:ext cx="7040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818120" y="2011680"/>
            <a:ext cx="3794760" cy="2240280"/>
          </a:xfrm>
          <a:prstGeom prst="roundRect">
            <a:avLst>
              <a:gd name="adj" fmla="val 3673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74152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يعني هذا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67004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طبقات الـ MVP وحدها لا تصل للتعادل بشكل معقول</a:t>
            </a:r>
            <a:endParaRPr lang="en-US" sz="11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طبقة Business تخفض المطلوب ~٢٦٪</a:t>
            </a:r>
            <a:endParaRPr lang="en-US" sz="11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تكاليف الوحدة المستهدفة تخفضه ~١٥٪ إضافية</a:t>
            </a:r>
            <a:endParaRPr lang="en-US" sz="11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أقوى رافعة على الإطلاق: كلفة المشرف الواحد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يُدسّ أي قرار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التغيير والتوضيحات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كلّما تعارض شيء مع مبدأ معتمد، طُرح صراحةً بأثره في الاتجاهين — لا قراراً مُمرَّراً بهدوء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22992" y="2066544"/>
            <a:ext cx="1143000" cy="457200"/>
          </a:xfrm>
          <a:prstGeom prst="roundRect">
            <a:avLst>
              <a:gd name="adj" fmla="val 14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22992" y="21671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36992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مخزن أدلة الإشراف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40864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~١٢٠ ثانية تُمحى عند إغلاق الجلسة، مقابل مبدأ «لا تخزين للفيديو». وُثِّق ما يتدهور إن رُفض.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22992" y="2907792"/>
            <a:ext cx="1143000" cy="457200"/>
          </a:xfrm>
          <a:prstGeom prst="roundRect">
            <a:avLst>
              <a:gd name="adj" fmla="val 14000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22992" y="30083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36992" y="28712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المتاجر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182112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الشراء داخل التطبيق يخرق التسعير الموحّد جوهرياً. ثلاثة خيارات مُكلَّفة، والتوصية: البيع عبر الويب.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621024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22992" y="3749040"/>
            <a:ext cx="114300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22992" y="38496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تعديلان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37124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النطاق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4023360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سحب باقة Founding Broadcaster المجانية · ترقية أربع قدرات إلى P0 مقابل تنزيل Trial Pass.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62272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22992" y="4590288"/>
            <a:ext cx="114300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22992" y="4690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36992" y="45537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توضيحات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864608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البثّ المجدول · العروض العالمية المؤقّتة · سقف التزامن · الضريبة ليست فرق سعر.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303520"/>
            <a:ext cx="11027664" cy="731520"/>
          </a:xfrm>
          <a:prstGeom prst="roundRect">
            <a:avLst>
              <a:gd name="adj" fmla="val 11250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22992" y="5431536"/>
            <a:ext cx="1143000" cy="457200"/>
          </a:xfrm>
          <a:prstGeom prst="roundRect">
            <a:avLst>
              <a:gd name="adj" fmla="val 14000"/>
            </a:avLst>
          </a:prstGeom>
          <a:solidFill>
            <a:srgbClr val="2E3F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22992" y="5532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واحد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936992" y="5394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مؤجَّل ومُعلَّم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" y="5705856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تقييمات البائعين — غير مطلوبة الآن، طُرحت كي لا تصل لاحقاً بوصفها «تجربة نمو».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القرارات الخمسة الحاجبة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وحدها تمنع بدء العمل الهندسي — ولا تفتحها أي وثيقة إضافية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27356F"/>
          </a:solidFill>
          <a:ln w="9525">
            <a:solidFill>
              <a:srgbClr val="3E4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36224" y="20482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36224" y="2089404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965960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الـ beachhead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295144"/>
            <a:ext cx="993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يحجب: البحث القانوني · اختيار PSP · التعريب · لغات الإشراف · مورّد الإعلام · حجم النوبة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724912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27356F"/>
          </a:solidFill>
          <a:ln w="9525">
            <a:solidFill>
              <a:srgbClr val="3E4E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289864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36224" y="2939796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816352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 — مخزن أدلة الإشراف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145536"/>
            <a:ext cx="993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يحجب: بناء الإشراف ومسار الاستئناف بأكمله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575304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27356F"/>
          </a:solidFill>
          <a:ln w="9525">
            <a:solidFill>
              <a:srgbClr val="3E4E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36224" y="37490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36224" y="379018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666744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 — عمولة المتاجر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3995928"/>
            <a:ext cx="993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يحجب: مسار الشراء، وبنية التطبيق كما وُصفت في الـ PRD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25696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27356F"/>
          </a:solidFill>
          <a:ln w="9525">
            <a:solidFill>
              <a:srgbClr val="3E4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36224" y="459943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36224" y="464058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517136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النطاق للاحتفاظ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846320"/>
            <a:ext cx="993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يحجب: تعريف P0 نفسه، والتزام الإطلاق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276088"/>
            <a:ext cx="11027664" cy="731520"/>
          </a:xfrm>
          <a:prstGeom prst="roundRect">
            <a:avLst>
              <a:gd name="adj" fmla="val 10000"/>
            </a:avLst>
          </a:prstGeom>
          <a:solidFill>
            <a:srgbClr val="27356F"/>
          </a:solidFill>
          <a:ln w="9525">
            <a:solidFill>
              <a:srgbClr val="3E4E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36224" y="544982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936224" y="549097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5367528"/>
            <a:ext cx="993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حقل provenance في الـ MVP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696712"/>
            <a:ext cx="993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يحجب: سلامة الترتيب — ولا يمكن تركيبه لاحقاً دون إبطال كل رقم تاريخي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القادمة بالترتيب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صفر — يبدأ فوراً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أعمال خارجية، تبدأ بالتوازي وقبل أي سطر برمجي — لأن أزمنة تنفيذها أطول من الهندسة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982712" y="210312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0" y="23317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0" y="24048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02168" y="303580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توظيف فريق الإشراف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02168" y="3767328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~١٥ موظفاً بدوام كامل، بتغطية لغوية لأسواق الـ beachhead، مع التدريب واختبار مسار التصعيد.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02168" y="4791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الأطول زمناً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96512" y="210312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4048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303580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إشراك محامٍ لكل سوق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15968" y="3767328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تعبئة مصفوفة الفئة × الدولة وفق قائمة التسليم العشرية — عمل خارجي على المسار الحرج.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4791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خارجي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" y="210312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331720"/>
            <a:ext cx="566928" cy="566928"/>
          </a:xfrm>
          <a:prstGeom prst="ellipse">
            <a:avLst/>
          </a:prstGeom>
          <a:solidFill>
            <a:srgbClr val="2E3F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17520" y="240487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303580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البثّ لأسبوعين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" y="3767328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التأخير والتكلفة لكل ساعة مشاهدة ونسبة TURN، على شبكات رديئة فعلاً لا على واي‑فاي المكتب.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" y="4791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E3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يستبدل الافتراضات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34924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968" y="5504688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الـ beachhead شرطٌ سابق للثلاثة جميعاً — فهو يحدّد اللغات والأسواق والمورّد.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القادمة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المراحل التالية بالترتيب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1027664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2952" y="187452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02952" y="1975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١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1783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حسم القرارات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57984"/>
            <a:ext cx="8924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القرارات الخمسة الحاجبة + الردّ على تصحيح التسعير + داخلي أم BPO. ثم أُمرّر أثرها على الحزمة كلها دفعةً واحدة.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670048"/>
            <a:ext cx="11027664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2952" y="288036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02952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٢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788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الأرقام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163824"/>
            <a:ext cx="8924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يعود الـ PoC بقيم حقيقية، فتُستبدل الافتراضات في سجلّ البارامترات وتُثبَّت أسعار الطبقات نهائياً.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675888"/>
            <a:ext cx="11027664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02952" y="388620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2E3F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02952" y="3986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٣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3794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الـ P0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69664"/>
            <a:ext cx="8924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البناء على النطاق المعدَّل، مع معايير القبول السلبية في CI من اليوم الأول، وتسجيل الـ egress وprovenance منذ أول التزام.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81728"/>
            <a:ext cx="11027664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 w="9525">
            <a:solidFill>
              <a:srgbClr val="DDE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2952" y="489204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4A5C9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02952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4800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طيّار مُقاس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175504"/>
            <a:ext cx="8924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التشخيص تفصل «لا جمهور» عن بقية أنماط التوقف — وهي مصمَّمة لتقدر أن تُنهي البرنامج لا أن تبرّره.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755648" y="574243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مرحلة «وثائق إضافية». الحزمة أدّت دورها، وما بعدها قرارٌ ثم قياسٌ ثم بناء.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9107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6236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-1920240" y="-1828800"/>
            <a:ext cx="4937760" cy="4937760"/>
          </a:xfrm>
          <a:prstGeom prst="ellipse">
            <a:avLst/>
          </a:prstGeom>
          <a:solidFill>
            <a:srgbClr val="2735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234440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حزمة استشارية مكتملة: إحدى عشرة وثيقة تغطّي النطاق والبنية والاقتصاد والمنتج والتشغيل والنمو، بمصدر واحد للأرقام وسجلّ صريح لكل مرة نقضتُ فيها توصيةً سابقة لي.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38560" y="35478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262872" y="34290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اكتمل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47288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التحليل، والقرارات المعمارية والتجارية، ومعايير القبول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338560" y="42611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62872" y="4142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ينتظرك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16052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 قرارات حاجبة، وردّ على تصحيح التسعير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338560" y="497433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62872" y="48554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يبدأ فوراً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873752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BB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توظيف الإشراف · إشراك المحامي · PoC البثّ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5669280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7C8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ورد من مواضع تنظيمية أو مالية أو قانونية أو متعلّقة بمتاجر التطبيقات هو افتراض يحتاج تحقّقاً متخصّصاً لكل دولة.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MARKET — ملخّص الحزمة الاستشارية</dc:title>
  <dc:subject>PptxGenJS Presentation</dc:subject>
  <dc:creator>Senior Product Consultant &amp; Solution Architect</dc:creator>
  <cp:lastModifiedBy>Senior Product Consultant &amp; Solution Architect</cp:lastModifiedBy>
  <cp:revision>1</cp:revision>
  <dcterms:created xsi:type="dcterms:W3CDTF">2026-09-28T01:33:10Z</dcterms:created>
  <dcterms:modified xsi:type="dcterms:W3CDTF">2026-09-28T01:33:10Z</dcterms:modified>
</cp:coreProperties>
</file>